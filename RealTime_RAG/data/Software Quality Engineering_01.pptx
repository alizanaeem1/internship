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75" r:id="rId14"/>
    <p:sldId id="276" r:id="rId15"/>
    <p:sldId id="277" r:id="rId16"/>
    <p:sldId id="278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51A651B-7A19-473E-9612-02F2D8210AB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4F9BAE9-5603-490E-83F5-ECD3AD9BF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2.wav"/><Relationship Id="rId1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3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Quality Engineering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01 </a:t>
            </a:r>
            <a:endParaRPr lang="en-US" dirty="0"/>
          </a:p>
        </p:txBody>
      </p:sp>
    </p:spTree>
  </p:cSld>
  <p:clrMapOvr>
    <a:masterClrMapping/>
  </p:clrMapOvr>
  <p:transition advTm="12016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quality?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Quality is not absolute.</a:t>
            </a:r>
          </a:p>
          <a:p>
            <a:r>
              <a:rPr lang="en-US" dirty="0" smtClean="0"/>
              <a:t>Quality is multidimensional</a:t>
            </a:r>
          </a:p>
          <a:p>
            <a:r>
              <a:rPr lang="en-US" dirty="0" smtClean="0"/>
              <a:t>Quality is subject to constraints</a:t>
            </a:r>
          </a:p>
          <a:p>
            <a:r>
              <a:rPr lang="en-US" dirty="0" smtClean="0"/>
              <a:t>Quality is about Acceptable Compromises</a:t>
            </a:r>
          </a:p>
          <a:p>
            <a:r>
              <a:rPr lang="en-US" dirty="0" smtClean="0"/>
              <a:t>Quality criteria are not independent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“The totality of features and characteristics of a product or service that bears on its ability to satisfy specified or implied needs. 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 &amp; </a:t>
            </a:r>
            <a:r>
              <a:rPr lang="en-US" dirty="0" smtClean="0"/>
              <a:t>Verification </a:t>
            </a:r>
            <a:endParaRPr lang="en-US" dirty="0"/>
          </a:p>
        </p:txBody>
      </p:sp>
      <p:pic>
        <p:nvPicPr>
          <p:cNvPr id="4" name="Content Placeholder 3" descr="VandVtoolbox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98500" y="2106611"/>
            <a:ext cx="7378700" cy="407840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maxresdefault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9599" y="1752600"/>
            <a:ext cx="7603067" cy="42767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Tasks of Quality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Quality Planning </a:t>
            </a:r>
          </a:p>
          <a:p>
            <a:r>
              <a:rPr lang="en-US" dirty="0" smtClean="0"/>
              <a:t>Execution of selected QA or Software validation and verification activities;</a:t>
            </a:r>
          </a:p>
          <a:p>
            <a:r>
              <a:rPr lang="en-US" dirty="0" smtClean="0"/>
              <a:t>Measurements and analysis to provide convincing evidence to demonstrate software quality to all parties involved. 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001000" cy="1143000"/>
          </a:xfrm>
        </p:spPr>
        <p:txBody>
          <a:bodyPr/>
          <a:lstStyle/>
          <a:p>
            <a:r>
              <a:rPr lang="en-US" dirty="0" smtClean="0"/>
              <a:t>Testing, Quality Assurance and Quality Engineering</a:t>
            </a:r>
            <a:endParaRPr lang="en-US" dirty="0"/>
          </a:p>
        </p:txBody>
      </p:sp>
      <p:pic>
        <p:nvPicPr>
          <p:cNvPr id="9" name="Content Placeholder 8" descr="aa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11596" y="1905001"/>
            <a:ext cx="6837004" cy="40999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Testing, Quality Assurance and Quality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Software Testing </a:t>
            </a:r>
          </a:p>
          <a:p>
            <a:pPr lvl="1"/>
            <a:r>
              <a:rPr lang="en-US" dirty="0" smtClean="0"/>
              <a:t>Testing with different types of general checklist</a:t>
            </a:r>
          </a:p>
          <a:p>
            <a:pPr lvl="1"/>
            <a:r>
              <a:rPr lang="en-US" dirty="0" smtClean="0"/>
              <a:t>Decision and Predicate Testing </a:t>
            </a:r>
          </a:p>
          <a:p>
            <a:pPr lvl="1"/>
            <a:r>
              <a:rPr lang="en-US" dirty="0" smtClean="0"/>
              <a:t>Usage-based statistical testing using flat operational profiles. </a:t>
            </a:r>
          </a:p>
          <a:p>
            <a:pPr lvl="1"/>
            <a:r>
              <a:rPr lang="en-US" dirty="0" smtClean="0"/>
              <a:t>Boundary Testing</a:t>
            </a:r>
          </a:p>
          <a:p>
            <a:pPr lvl="1"/>
            <a:r>
              <a:rPr lang="en-US" dirty="0" smtClean="0"/>
              <a:t>State-based Testing </a:t>
            </a:r>
          </a:p>
          <a:p>
            <a:pPr lvl="1"/>
            <a:r>
              <a:rPr lang="en-US" dirty="0" smtClean="0"/>
              <a:t>Interaction Testing </a:t>
            </a:r>
          </a:p>
          <a:p>
            <a:pPr lvl="2"/>
            <a:r>
              <a:rPr lang="en-US" dirty="0" smtClean="0"/>
              <a:t>Control Flow Testing</a:t>
            </a:r>
          </a:p>
          <a:p>
            <a:pPr lvl="2"/>
            <a:r>
              <a:rPr lang="en-US" dirty="0" smtClean="0"/>
              <a:t>Data Flow Testing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Assurance Beyond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Techniques for defect prevention</a:t>
            </a:r>
          </a:p>
          <a:p>
            <a:r>
              <a:rPr lang="en-US" dirty="0" smtClean="0"/>
              <a:t>Root Cause Analysis for Defect Prevention</a:t>
            </a:r>
          </a:p>
          <a:p>
            <a:pPr lvl="1"/>
            <a:r>
              <a:rPr lang="en-US" dirty="0" smtClean="0"/>
              <a:t>Analysis and Modeling for defect prevention </a:t>
            </a:r>
          </a:p>
          <a:p>
            <a:pPr lvl="1"/>
            <a:r>
              <a:rPr lang="en-US" dirty="0" smtClean="0"/>
              <a:t>Technologies, standards and methodologies for defect prevention.</a:t>
            </a:r>
          </a:p>
          <a:p>
            <a:pPr lvl="1"/>
            <a:r>
              <a:rPr lang="en-US" dirty="0" smtClean="0"/>
              <a:t>Software Tools to block defect injection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~PP2361.WAV">
            <a:hlinkClick r:id="" action="ppaction://media"/>
          </p:cNvPr>
          <p:cNvPicPr>
            <a:picLocks noRot="1" noChangeAspect="1"/>
          </p:cNvPicPr>
          <p:nvPr>
            <a:wavAudioFile r:embed="rId1" name="~PP2361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</p:cNvPr>
          <p:cNvPicPr>
            <a:picLocks noRot="1" noChangeAspect="1"/>
          </p:cNvPicPr>
          <p:nvPr>
            <a:wavAudioFile r:embed="rId2" name="Recorded Sound"/>
          </p:nvPr>
        </p:nvPicPr>
        <p:blipFill>
          <a:blip r:embed="rId5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Software quality engineering (SQE) is the application of QE practices to the software development lifecycle (SDLC</a:t>
            </a:r>
            <a:r>
              <a:rPr lang="en-US" dirty="0" smtClean="0"/>
              <a:t>).</a:t>
            </a:r>
          </a:p>
          <a:p>
            <a:pPr algn="just">
              <a:buNone/>
            </a:pP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smtClean="0"/>
              <a:t> </a:t>
            </a:r>
            <a:r>
              <a:rPr lang="en-US" dirty="0" smtClean="0"/>
              <a:t>In software quality engineering, QE is closely integrated with existing agile and </a:t>
            </a:r>
            <a:r>
              <a:rPr lang="en-US" dirty="0" smtClean="0"/>
              <a:t>develop </a:t>
            </a:r>
            <a:r>
              <a:rPr lang="en-US" dirty="0" smtClean="0"/>
              <a:t>processes, as opposed to being added as a layer on top of existing workflows. 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</a:t>
            </a:r>
            <a:r>
              <a:rPr lang="en-US" dirty="0" smtClean="0"/>
              <a:t>This </a:t>
            </a:r>
            <a:r>
              <a:rPr lang="en-US" dirty="0" smtClean="0"/>
              <a:t>mirrors the shifted-left testing principles of </a:t>
            </a:r>
            <a:r>
              <a:rPr lang="en-US" dirty="0" err="1" smtClean="0"/>
              <a:t>DevSecOps</a:t>
            </a:r>
            <a:r>
              <a:rPr lang="en-US" dirty="0" smtClean="0"/>
              <a:t> teams and is intended to identify issues early on.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~PP3968.WAV">
            <a:hlinkClick r:id="" action="ppaction://media"/>
          </p:cNvPr>
          <p:cNvPicPr>
            <a:picLocks noRot="1" noChangeAspect="1"/>
          </p:cNvPicPr>
          <p:nvPr>
            <a:wavAudioFile r:embed="rId1" name="~PP3968.WAV"/>
          </p:nvPr>
        </p:nvPicPr>
        <p:blipFill>
          <a:blip r:embed="rId3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Elaborating of Testing Types Discussed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Checklist Testing </a:t>
            </a:r>
          </a:p>
          <a:p>
            <a:pPr algn="just">
              <a:buNone/>
            </a:pPr>
            <a:r>
              <a:rPr lang="en-US" dirty="0" smtClean="0"/>
              <a:t>   Checklist-based </a:t>
            </a:r>
            <a:r>
              <a:rPr lang="en-US" dirty="0" smtClean="0"/>
              <a:t>testing is a type of software testing based on the pre-planned “to-do” list of tasks called a checklist. Professional testers, who have sufficient technical experience usually complete these lists. QA (Quality Assurance) engineers use such checklists to guide the testing activities.</a:t>
            </a:r>
            <a:endParaRPr lang="en-US" dirty="0"/>
          </a:p>
        </p:txBody>
      </p:sp>
      <p:pic>
        <p:nvPicPr>
          <p:cNvPr id="4" name="Picture 3" descr="ResizedImage600290-checklist-tes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267200"/>
            <a:ext cx="4434052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Boundary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Boundary testing</a:t>
            </a:r>
            <a:r>
              <a:rPr lang="en-US" dirty="0" smtClean="0"/>
              <a:t> is the process of </a:t>
            </a:r>
            <a:r>
              <a:rPr lang="en-US" b="1" dirty="0" smtClean="0"/>
              <a:t>testing</a:t>
            </a:r>
            <a:r>
              <a:rPr lang="en-US" dirty="0" smtClean="0"/>
              <a:t> between extreme ends or </a:t>
            </a:r>
            <a:r>
              <a:rPr lang="en-US" b="1" dirty="0" smtClean="0"/>
              <a:t>boundaries</a:t>
            </a:r>
            <a:r>
              <a:rPr lang="en-US" dirty="0" smtClean="0"/>
              <a:t> between partitions of the input values. </a:t>
            </a:r>
            <a:endParaRPr lang="en-US" dirty="0" smtClean="0"/>
          </a:p>
          <a:p>
            <a:pPr algn="just"/>
            <a:r>
              <a:rPr lang="en-US" dirty="0" smtClean="0"/>
              <a:t>So </a:t>
            </a:r>
            <a:r>
              <a:rPr lang="en-US" dirty="0" smtClean="0"/>
              <a:t>these extreme ends like Start- End, Lower- Upper, Maximum-Minimum, Just Inside-Just Outside values are called </a:t>
            </a:r>
            <a:r>
              <a:rPr lang="en-US" b="1" dirty="0" smtClean="0"/>
              <a:t>boundary</a:t>
            </a:r>
            <a:r>
              <a:rPr lang="en-US" dirty="0" smtClean="0"/>
              <a:t> values and the </a:t>
            </a:r>
            <a:r>
              <a:rPr lang="en-US" b="1" dirty="0" smtClean="0"/>
              <a:t>testing</a:t>
            </a:r>
            <a:r>
              <a:rPr lang="en-US" dirty="0" smtClean="0"/>
              <a:t> is called "</a:t>
            </a:r>
            <a:r>
              <a:rPr lang="en-US" b="1" dirty="0" smtClean="0"/>
              <a:t>boundary testing</a:t>
            </a:r>
            <a:r>
              <a:rPr lang="en-US" dirty="0" smtClean="0"/>
              <a:t>".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Based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Usage-based statistical testing is commonly appropriate to the final phase of software testing, normally referred to as acceptance </a:t>
            </a:r>
            <a:r>
              <a:rPr lang="en-US" dirty="0" smtClean="0"/>
              <a:t>testing right </a:t>
            </a:r>
            <a:r>
              <a:rPr lang="en-US" dirty="0" smtClean="0"/>
              <a:t>before product release, so that stopping testing is of equal worth to the product release.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Based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   State-based </a:t>
            </a:r>
            <a:r>
              <a:rPr lang="en-US" dirty="0" smtClean="0"/>
              <a:t>testing is a new method for testing object-oriented programs. The information stored in the state of an object is of two kinds: control-information and data-storage. 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Flow 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Control flow testing is a testing technique that comes under white box testing.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aim of this technique is to determine the execution order of statements or instructions of the program through a control structure.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control structure of a program is used to develop a test case for the program. 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Data Flow Testing</a:t>
            </a:r>
            <a:r>
              <a:rPr lang="en-US" dirty="0" smtClean="0"/>
              <a:t> is a specific strategy of software </a:t>
            </a:r>
            <a:r>
              <a:rPr lang="en-US" b="1" dirty="0" smtClean="0"/>
              <a:t>testing</a:t>
            </a:r>
            <a:r>
              <a:rPr lang="en-US" dirty="0" smtClean="0"/>
              <a:t> that focuses on </a:t>
            </a:r>
            <a:r>
              <a:rPr lang="en-US" b="1" dirty="0" smtClean="0"/>
              <a:t>data</a:t>
            </a:r>
            <a:r>
              <a:rPr lang="en-US" dirty="0" smtClean="0"/>
              <a:t> variables and their values. It makes use of the control </a:t>
            </a:r>
            <a:r>
              <a:rPr lang="en-US" b="1" dirty="0" smtClean="0"/>
              <a:t>flow</a:t>
            </a:r>
            <a:r>
              <a:rPr lang="en-US" dirty="0" smtClean="0"/>
              <a:t> graph. </a:t>
            </a: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 smtClean="0"/>
              <a:t>it comes to categorization </a:t>
            </a:r>
            <a:r>
              <a:rPr lang="en-US" b="1" dirty="0" smtClean="0"/>
              <a:t>Data flow testing</a:t>
            </a:r>
            <a:r>
              <a:rPr lang="en-US" dirty="0" smtClean="0"/>
              <a:t> will can be considered as a type of white box </a:t>
            </a:r>
            <a:r>
              <a:rPr lang="en-US" b="1" dirty="0" smtClean="0"/>
              <a:t>testing</a:t>
            </a:r>
            <a:r>
              <a:rPr lang="en-US" dirty="0" smtClean="0"/>
              <a:t> and structural types of </a:t>
            </a:r>
            <a:r>
              <a:rPr lang="en-US" b="1" dirty="0" smtClean="0"/>
              <a:t>testing.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 of SQE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primary goals of software quality engineering are:</a:t>
            </a:r>
          </a:p>
          <a:p>
            <a:r>
              <a:rPr lang="en-US" dirty="0" smtClean="0"/>
              <a:t>Process control and oversight</a:t>
            </a:r>
          </a:p>
          <a:p>
            <a:r>
              <a:rPr lang="en-US" dirty="0" smtClean="0"/>
              <a:t>Implementing standards and metrics</a:t>
            </a:r>
          </a:p>
          <a:p>
            <a:r>
              <a:rPr lang="en-US" dirty="0" smtClean="0"/>
              <a:t>Data collection and analysis</a:t>
            </a:r>
          </a:p>
          <a:p>
            <a:r>
              <a:rPr lang="en-US" dirty="0" smtClean="0"/>
              <a:t>Test development</a:t>
            </a:r>
          </a:p>
          <a:p>
            <a:r>
              <a:rPr lang="en-US" dirty="0" smtClean="0"/>
              <a:t>Identification of issues and solutions</a:t>
            </a:r>
          </a:p>
          <a:p>
            <a:r>
              <a:rPr lang="en-US" dirty="0" smtClean="0"/>
              <a:t>Follow-up to ensure corrective actions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Concerns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Quality analysts are typically responsible for:</a:t>
            </a:r>
          </a:p>
          <a:p>
            <a:pPr lvl="1"/>
            <a:r>
              <a:rPr lang="en-US" dirty="0" smtClean="0"/>
              <a:t>Sprint, test, and release planning.</a:t>
            </a:r>
          </a:p>
          <a:p>
            <a:pPr lvl="1"/>
            <a:r>
              <a:rPr lang="en-US" dirty="0" smtClean="0"/>
              <a:t>Serving as a quality testing expert.</a:t>
            </a:r>
          </a:p>
          <a:p>
            <a:pPr lvl="1"/>
            <a:r>
              <a:rPr lang="en-US" dirty="0" smtClean="0"/>
              <a:t>Managing backlogs to avoid oversight of acceptance criteria or edge cases</a:t>
            </a:r>
          </a:p>
          <a:p>
            <a:pPr lvl="1"/>
            <a:r>
              <a:rPr lang="en-US" dirty="0" smtClean="0"/>
              <a:t>Executing functional tests.</a:t>
            </a:r>
          </a:p>
          <a:p>
            <a:pPr lvl="1"/>
            <a:r>
              <a:rPr lang="en-US" dirty="0" smtClean="0"/>
              <a:t>Reporting on quality and testing status.</a:t>
            </a:r>
          </a:p>
          <a:p>
            <a:pPr lvl="1"/>
            <a:r>
              <a:rPr lang="en-US" dirty="0" smtClean="0"/>
              <a:t>Maintaining quality documentation.</a:t>
            </a:r>
          </a:p>
          <a:p>
            <a:pPr lvl="1"/>
            <a:r>
              <a:rPr lang="en-US" dirty="0" smtClean="0"/>
              <a:t>Identifying test cases.</a:t>
            </a:r>
          </a:p>
          <a:p>
            <a:pPr lvl="1"/>
            <a:r>
              <a:rPr lang="en-US" dirty="0" smtClean="0"/>
              <a:t>Working with client teams to support acceptance testing, analyze issues, and classify issues as bugs or enhancements.</a:t>
            </a:r>
          </a:p>
          <a:p>
            <a:pPr lvl="1"/>
            <a:r>
              <a:rPr lang="en-US" dirty="0" smtClean="0"/>
              <a:t>Manually configuring test environments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engineers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Quality engineers are typically responsible for:</a:t>
            </a:r>
          </a:p>
          <a:p>
            <a:pPr lvl="1"/>
            <a:r>
              <a:rPr lang="en-US" dirty="0" smtClean="0"/>
              <a:t>Identifying repeated test cases.</a:t>
            </a:r>
          </a:p>
          <a:p>
            <a:pPr lvl="1"/>
            <a:r>
              <a:rPr lang="en-US" dirty="0" smtClean="0"/>
              <a:t>Identifying tests requiring multiple environments, such as browsers or operating systems.</a:t>
            </a:r>
          </a:p>
          <a:p>
            <a:pPr lvl="1"/>
            <a:r>
              <a:rPr lang="en-US" dirty="0" smtClean="0"/>
              <a:t>Identifying end-to-end test cases.</a:t>
            </a:r>
          </a:p>
          <a:p>
            <a:pPr lvl="1"/>
            <a:r>
              <a:rPr lang="en-US" dirty="0" smtClean="0"/>
              <a:t>Automating tests to eliminate issues related to manual testing.</a:t>
            </a:r>
          </a:p>
          <a:p>
            <a:pPr lvl="1"/>
            <a:r>
              <a:rPr lang="en-US" dirty="0" smtClean="0"/>
              <a:t>Integrating testing into continuous integration / continuous delivery (CI/CD) pipelines.</a:t>
            </a:r>
          </a:p>
          <a:p>
            <a:pPr lvl="1"/>
            <a:r>
              <a:rPr lang="en-US" dirty="0" smtClean="0"/>
              <a:t>Identify and resolve bugs resulting from test automation failures.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case </a:t>
            </a:r>
            <a:r>
              <a:rPr lang="en-US" dirty="0" err="1" smtClean="0"/>
              <a:t>Formate</a:t>
            </a:r>
            <a:endParaRPr lang="en-US" dirty="0"/>
          </a:p>
        </p:txBody>
      </p:sp>
      <p:pic>
        <p:nvPicPr>
          <p:cNvPr id="4" name="Content Placeholder 3" descr="Test-case-template-format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85799" y="2133600"/>
            <a:ext cx="7786375" cy="29718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endParaRPr lang="en-US" dirty="0"/>
          </a:p>
        </p:txBody>
      </p:sp>
      <p:pic>
        <p:nvPicPr>
          <p:cNvPr id="4" name="Content Placeholder 3" descr="Demo-Test-Case-1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" y="1828800"/>
            <a:ext cx="8665737" cy="3617776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E2E Test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End to end testing</a:t>
            </a:r>
            <a:r>
              <a:rPr lang="en-US" dirty="0" smtClean="0"/>
              <a:t> (</a:t>
            </a:r>
            <a:r>
              <a:rPr lang="en-US" b="1" dirty="0" smtClean="0"/>
              <a:t>E2E testing</a:t>
            </a:r>
            <a:r>
              <a:rPr lang="en-US" dirty="0" smtClean="0"/>
              <a:t>) refers to a software </a:t>
            </a:r>
            <a:r>
              <a:rPr lang="en-US" b="1" dirty="0" smtClean="0"/>
              <a:t>testing</a:t>
            </a:r>
            <a:r>
              <a:rPr lang="en-US" dirty="0" smtClean="0"/>
              <a:t> method that involves </a:t>
            </a:r>
            <a:r>
              <a:rPr lang="en-US" b="1" dirty="0" smtClean="0"/>
              <a:t>testing</a:t>
            </a:r>
            <a:r>
              <a:rPr lang="en-US" dirty="0" smtClean="0"/>
              <a:t> an application's workflow from beginning to </a:t>
            </a:r>
            <a:r>
              <a:rPr lang="en-US" b="1" dirty="0" smtClean="0"/>
              <a:t>end</a:t>
            </a:r>
            <a:r>
              <a:rPr lang="en-US" dirty="0" smtClean="0"/>
              <a:t>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 smtClean="0"/>
              <a:t>method basically aims to replicate real user scenarios so that the system can be validated for integration and data </a:t>
            </a:r>
            <a:r>
              <a:rPr lang="en-US" dirty="0" smtClean="0"/>
              <a:t>integrity.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 descr="End-End-Testing(1)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01152" y="1828800"/>
            <a:ext cx="6014048" cy="4595501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297</TotalTime>
  <Words>552</Words>
  <Application>Microsoft Office PowerPoint</Application>
  <PresentationFormat>On-screen Show (4:3)</PresentationFormat>
  <Paragraphs>90</Paragraphs>
  <Slides>23</Slides>
  <Notes>0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Oriel</vt:lpstr>
      <vt:lpstr>Software Quality Engineering </vt:lpstr>
      <vt:lpstr>What is quality? </vt:lpstr>
      <vt:lpstr>Quality </vt:lpstr>
      <vt:lpstr>Validation &amp; Verification </vt:lpstr>
      <vt:lpstr>Slide 5</vt:lpstr>
      <vt:lpstr>Main Tasks of Quality Engineering</vt:lpstr>
      <vt:lpstr>Testing, Quality Assurance and Quality Engineering</vt:lpstr>
      <vt:lpstr>Testing, Quality Assurance and Quality Engineering</vt:lpstr>
      <vt:lpstr>Quality Assurance Beyond Testing</vt:lpstr>
      <vt:lpstr>Software Quality Engineering</vt:lpstr>
      <vt:lpstr>Elaborating of Testing Types Discussed</vt:lpstr>
      <vt:lpstr>Boundary Testing</vt:lpstr>
      <vt:lpstr>Usage Based Testing</vt:lpstr>
      <vt:lpstr>State Based Testing</vt:lpstr>
      <vt:lpstr>Control Flow Testing </vt:lpstr>
      <vt:lpstr>Data Flow Testing </vt:lpstr>
      <vt:lpstr>Goals of SQE</vt:lpstr>
      <vt:lpstr>Quality Concerns</vt:lpstr>
      <vt:lpstr>Quality engineers Responsibilities</vt:lpstr>
      <vt:lpstr>Test case Formate</vt:lpstr>
      <vt:lpstr>Example: </vt:lpstr>
      <vt:lpstr>E2E Test Case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</dc:title>
  <dc:creator>DELL</dc:creator>
  <cp:lastModifiedBy>DELL</cp:lastModifiedBy>
  <cp:revision>52</cp:revision>
  <dcterms:created xsi:type="dcterms:W3CDTF">2021-02-16T06:26:22Z</dcterms:created>
  <dcterms:modified xsi:type="dcterms:W3CDTF">2021-02-17T04:34:59Z</dcterms:modified>
</cp:coreProperties>
</file>